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66" r:id="rId10"/>
    <p:sldId id="267" r:id="rId11"/>
    <p:sldId id="268" r:id="rId12"/>
    <p:sldId id="2146847055" r:id="rId13"/>
    <p:sldId id="269" r:id="rId14"/>
    <p:sldId id="2146847056"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EC2134-FE55-D600-31C0-C82AB450B7AA}" v="39" dt="2026-08-09T17:41:19.1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9/10/2026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9/10/2026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9/10/2026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9/10/2026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9/10/2026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9/10/2026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9/10/2026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9/10/2026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9/10/2026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9/10/2026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9/10/2026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9/10/2026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p4xprime/student-career-success-predictor"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wrap="square" lIns="18288" tIns="18288" rIns="18288" bIns="18288"/>
          <a:lstStyle/>
          <a:p>
            <a:pPr algn="ctr"/>
            <a:r>
              <a:rPr sz="3000" b="1">
                <a:solidFill>
                  <a:srgbClr val="1CAEE4"/>
                </a:solidFill>
                <a:latin typeface="Arial"/>
              </a:rPr>
              <a:t>STUDENT CAREER SUCCESS PREDICTOR</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2736529" y="3847225"/>
            <a:ext cx="7980183" cy="1631216"/>
          </a:xfrm>
          <a:prstGeom prst="rect">
            <a:avLst/>
          </a:prstGeom>
          <a:noFill/>
        </p:spPr>
        <p:txBody>
          <a:bodyPr wrap="square" lIns="18288" tIns="18288" rIns="18288" bIns="18288" rtlCol="0" anchor="t">
            <a:spAutoFit/>
          </a:bodyPr>
          <a:lstStyle/>
          <a:p>
            <a:r>
              <a:rPr sz="2000" b="1" dirty="0">
                <a:solidFill>
                  <a:srgbClr val="1CAEE4"/>
                </a:solidFill>
                <a:latin typeface="Arial"/>
              </a:rPr>
              <a:t>Presented By:
1.    Student Name- Prashant Mishra
2.    College Name- Babasaheb Bhimrao Ambedkar University
3.    Department – Information Technology
4.    AICTE </a:t>
            </a:r>
            <a:r>
              <a:rPr lang="en-US" sz="2000" b="1" dirty="0">
                <a:solidFill>
                  <a:srgbClr val="1CAEE4"/>
                </a:solidFill>
                <a:latin typeface="Arial"/>
              </a:rPr>
              <a:t>STU-</a:t>
            </a:r>
            <a:r>
              <a:rPr sz="2000" b="1" dirty="0">
                <a:solidFill>
                  <a:srgbClr val="1CAEE4"/>
                </a:solidFill>
                <a:latin typeface="Arial"/>
              </a:rPr>
              <a:t>ID – </a:t>
            </a:r>
            <a:r>
              <a:rPr lang="en-US" sz="2000" b="1" dirty="0">
                <a:solidFill>
                  <a:srgbClr val="1CAEE4"/>
                </a:solidFill>
                <a:latin typeface="Arial"/>
              </a:rPr>
              <a:t>STU69c37c3b032931774419003</a:t>
            </a:r>
            <a:endParaRPr sz="2000" b="1" dirty="0">
              <a:solidFill>
                <a:srgbClr val="1CAEE4"/>
              </a:solidFill>
              <a:latin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wrap="square" lIns="18288" tIns="18288" rIns="18288" bIns="18288"/>
          <a:lstStyle/>
          <a:p>
            <a:pPr algn="ctr"/>
            <a:r>
              <a:rPr sz="4400" b="1">
                <a:solidFill>
                  <a:srgbClr val="1CAEE4"/>
                </a:solidFill>
                <a:latin typeface="Arial"/>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wrap="square" lIns="109728" tIns="73152" rIns="109728" bIns="73152" rtlCol="0" anchor="t">
            <a:noAutofit/>
          </a:bodyPr>
          <a:lstStyle/>
          <a:p>
            <a:pPr marL="0" indent="0">
              <a:lnSpc>
                <a:spcPct val="105000"/>
              </a:lnSpc>
              <a:spcAft>
                <a:spcPts val="500"/>
              </a:spcAft>
              <a:buNone/>
            </a:pPr>
            <a:r>
              <a:rPr sz="2000">
                <a:solidFill>
                  <a:srgbClr val="0F0F0F"/>
                </a:solidFill>
                <a:latin typeface="Calibri"/>
              </a:rPr>
              <a:t>Problem Statement</a:t>
            </a:r>
            <a:endParaRPr lang="en-US">
              <a:latin typeface="Arial"/>
              <a:cs typeface="Arial"/>
            </a:endParaRPr>
          </a:p>
          <a:p>
            <a:pPr>
              <a:lnSpc>
                <a:spcPct val="105000"/>
              </a:lnSpc>
              <a:spcAft>
                <a:spcPts val="500"/>
              </a:spcAft>
            </a:pPr>
            <a:r>
              <a:rPr sz="2000">
                <a:solidFill>
                  <a:srgbClr val="0F0F0F"/>
                </a:solidFill>
                <a:latin typeface="Calibri"/>
              </a:rPr>
              <a:t>Proposed System / Solution</a:t>
            </a:r>
          </a:p>
          <a:p>
            <a:pPr>
              <a:lnSpc>
                <a:spcPct val="105000"/>
              </a:lnSpc>
              <a:spcAft>
                <a:spcPts val="500"/>
              </a:spcAft>
            </a:pPr>
            <a:r>
              <a:rPr sz="2000">
                <a:solidFill>
                  <a:srgbClr val="0F0F0F"/>
                </a:solidFill>
                <a:latin typeface="Calibri"/>
              </a:rPr>
              <a:t>System Development Approach (Technology Used)</a:t>
            </a:r>
          </a:p>
          <a:p>
            <a:pPr>
              <a:lnSpc>
                <a:spcPct val="105000"/>
              </a:lnSpc>
              <a:spcAft>
                <a:spcPts val="500"/>
              </a:spcAft>
            </a:pPr>
            <a:r>
              <a:rPr sz="2000">
                <a:solidFill>
                  <a:srgbClr val="0F0F0F"/>
                </a:solidFill>
                <a:latin typeface="Calibri"/>
              </a:rPr>
              <a:t>Algorithm &amp; Deployment</a:t>
            </a:r>
          </a:p>
          <a:p>
            <a:pPr>
              <a:lnSpc>
                <a:spcPct val="105000"/>
              </a:lnSpc>
              <a:spcAft>
                <a:spcPts val="500"/>
              </a:spcAft>
            </a:pPr>
            <a:r>
              <a:rPr sz="2000">
                <a:solidFill>
                  <a:srgbClr val="0F0F0F"/>
                </a:solidFill>
                <a:latin typeface="Calibri"/>
              </a:rPr>
              <a:t>Result</a:t>
            </a:r>
          </a:p>
          <a:p>
            <a:pPr>
              <a:lnSpc>
                <a:spcPct val="105000"/>
              </a:lnSpc>
              <a:spcAft>
                <a:spcPts val="500"/>
              </a:spcAft>
            </a:pPr>
            <a:r>
              <a:rPr sz="2000">
                <a:solidFill>
                  <a:srgbClr val="0F0F0F"/>
                </a:solidFill>
                <a:latin typeface="Calibri"/>
              </a:rPr>
              <a:t>Conclusion</a:t>
            </a:r>
          </a:p>
          <a:p>
            <a:pPr>
              <a:lnSpc>
                <a:spcPct val="105000"/>
              </a:lnSpc>
              <a:spcAft>
                <a:spcPts val="500"/>
              </a:spcAft>
            </a:pPr>
            <a:r>
              <a:rPr sz="2000">
                <a:solidFill>
                  <a:srgbClr val="0F0F0F"/>
                </a:solidFill>
                <a:latin typeface="Calibri"/>
              </a:rPr>
              <a:t>Future Scope</a:t>
            </a:r>
          </a:p>
          <a:p>
            <a:pPr>
              <a:lnSpc>
                <a:spcPct val="105000"/>
              </a:lnSpc>
              <a:spcAft>
                <a:spcPts val="500"/>
              </a:spcAft>
            </a:pPr>
            <a:r>
              <a:rPr sz="2000">
                <a:solidFill>
                  <a:srgbClr val="0F0F0F"/>
                </a:solidFill>
                <a:latin typeface="Calibri"/>
              </a:rPr>
              <a:t>References</a:t>
            </a: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1052676"/>
            <a:ext cx="11029616" cy="530296"/>
          </a:xfrm>
        </p:spPr>
        <p:txBody>
          <a:bodyPr wrap="square" lIns="18288" tIns="18288" rIns="18288" bIns="18288">
            <a:normAutofit fontScale="90000"/>
          </a:bodyPr>
          <a:lstStyle/>
          <a:p>
            <a:r>
              <a:rPr sz="4400" b="1" dirty="0">
                <a:solidFill>
                  <a:srgbClr val="1CAEE4"/>
                </a:solidFill>
                <a:latin typeface="Arial"/>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wrap="square" tIns="91440" bIns="91440"/>
          <a:lstStyle/>
          <a:p>
            <a:pPr marL="0" indent="0">
              <a:buNone/>
            </a:pPr>
            <a:r>
              <a:rPr sz="2000" b="0">
                <a:solidFill>
                  <a:srgbClr val="0F0F0F"/>
                </a:solidFill>
                <a:latin typeface="Calibri"/>
              </a:rPr>
              <a:t>Students often struggle to estimate how prepared they are for campus placement because academic performance, technical skills, projects, internships and soft skills interact in complex ways.
Traditional career guidance is frequently qualitative and does not provide a consistent, data-driven estimate of placement readiness.
A practical system is needed to analyse a student profile and classify the likely placement status as Placed or Not Placed.</a:t>
            </a:r>
            <a:endParaRPr lang="en-IN"/>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1097073"/>
            <a:ext cx="11029616" cy="530296"/>
          </a:xfrm>
        </p:spPr>
        <p:txBody>
          <a:bodyPr wrap="square" lIns="18288" tIns="18288" rIns="18288" bIns="18288">
            <a:normAutofit fontScale="90000"/>
          </a:bodyPr>
          <a:lstStyle/>
          <a:p>
            <a:r>
              <a:rPr sz="4400" b="1" dirty="0">
                <a:solidFill>
                  <a:srgbClr val="1CAEE4"/>
                </a:solidFill>
                <a:latin typeface="Arial"/>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371019" y="959913"/>
            <a:ext cx="11239789" cy="5195931"/>
          </a:xfrm>
        </p:spPr>
        <p:txBody>
          <a:bodyPr vert="horz" wrap="square" lIns="109728" tIns="73152" rIns="109728" bIns="73152" rtlCol="0" anchor="ctr">
            <a:noAutofit/>
          </a:bodyPr>
          <a:lstStyle/>
          <a:p>
            <a:pPr marL="305435" indent="-305435">
              <a:lnSpc>
                <a:spcPct val="105000"/>
              </a:lnSpc>
              <a:spcAft>
                <a:spcPts val="500"/>
              </a:spcAft>
            </a:pPr>
            <a:r>
              <a:rPr sz="1600" b="1" dirty="0">
                <a:solidFill>
                  <a:srgbClr val="0F0F0F"/>
                </a:solidFill>
                <a:latin typeface="Calibri"/>
              </a:rPr>
              <a:t>Data: </a:t>
            </a:r>
            <a:r>
              <a:rPr sz="1600" dirty="0">
                <a:solidFill>
                  <a:srgbClr val="0F0F0F"/>
                </a:solidFill>
                <a:latin typeface="Calibri"/>
              </a:rPr>
              <a:t>Use the Student Career Success dataset containing 50,000 student records and 29 features.</a:t>
            </a:r>
            <a:endParaRPr lang="en-IN" sz="1200" b="1" dirty="0">
              <a:latin typeface="Calibri"/>
              <a:cs typeface="Calibri"/>
            </a:endParaRPr>
          </a:p>
          <a:p>
            <a:pPr>
              <a:lnSpc>
                <a:spcPct val="105000"/>
              </a:lnSpc>
              <a:spcAft>
                <a:spcPts val="500"/>
              </a:spcAft>
            </a:pPr>
            <a:r>
              <a:rPr sz="1600" b="1" dirty="0">
                <a:solidFill>
                  <a:srgbClr val="0F0F0F"/>
                </a:solidFill>
                <a:latin typeface="Calibri"/>
              </a:rPr>
              <a:t>Preprocessing: </a:t>
            </a:r>
            <a:r>
              <a:rPr sz="1600" dirty="0">
                <a:solidFill>
                  <a:srgbClr val="0F0F0F"/>
                </a:solidFill>
                <a:latin typeface="Calibri"/>
              </a:rPr>
              <a:t>Clean the data, remove leakage/noise features, encode categorical values, impute missing values and scale numeric inputs.</a:t>
            </a:r>
          </a:p>
          <a:p>
            <a:pPr>
              <a:lnSpc>
                <a:spcPct val="105000"/>
              </a:lnSpc>
              <a:spcAft>
                <a:spcPts val="500"/>
              </a:spcAft>
            </a:pPr>
            <a:r>
              <a:rPr sz="1600" b="1" dirty="0">
                <a:solidFill>
                  <a:srgbClr val="0F0F0F"/>
                </a:solidFill>
                <a:latin typeface="Calibri"/>
              </a:rPr>
              <a:t>Feature Engineering: </a:t>
            </a:r>
            <a:r>
              <a:rPr sz="1600" dirty="0">
                <a:solidFill>
                  <a:srgbClr val="0F0F0F"/>
                </a:solidFill>
                <a:latin typeface="Calibri"/>
              </a:rPr>
              <a:t>Create a composite </a:t>
            </a:r>
            <a:r>
              <a:rPr sz="1600" dirty="0" err="1">
                <a:solidFill>
                  <a:srgbClr val="0F0F0F"/>
                </a:solidFill>
                <a:latin typeface="Calibri"/>
              </a:rPr>
              <a:t>Readiness_Score</a:t>
            </a:r>
            <a:r>
              <a:rPr sz="1600" dirty="0">
                <a:solidFill>
                  <a:srgbClr val="0F0F0F"/>
                </a:solidFill>
                <a:latin typeface="Calibri"/>
              </a:rPr>
              <a:t> from resume, interview, programming, problem-solving, projects and internships.</a:t>
            </a:r>
          </a:p>
          <a:p>
            <a:pPr>
              <a:lnSpc>
                <a:spcPct val="105000"/>
              </a:lnSpc>
              <a:spcAft>
                <a:spcPts val="500"/>
              </a:spcAft>
            </a:pPr>
            <a:r>
              <a:rPr sz="1600" b="1" dirty="0">
                <a:solidFill>
                  <a:srgbClr val="0F0F0F"/>
                </a:solidFill>
                <a:latin typeface="Calibri"/>
              </a:rPr>
              <a:t>Modeling: </a:t>
            </a:r>
            <a:r>
              <a:rPr sz="1600" dirty="0">
                <a:solidFill>
                  <a:srgbClr val="0F0F0F"/>
                </a:solidFill>
                <a:latin typeface="Calibri"/>
              </a:rPr>
              <a:t>Compare Logistic Regression, Random Forest, Extra Trees, Gradient Boosting, </a:t>
            </a:r>
            <a:r>
              <a:rPr sz="1600" dirty="0" err="1">
                <a:solidFill>
                  <a:srgbClr val="0F0F0F"/>
                </a:solidFill>
                <a:latin typeface="Calibri"/>
              </a:rPr>
              <a:t>XGBoost</a:t>
            </a:r>
            <a:r>
              <a:rPr sz="1600" dirty="0">
                <a:solidFill>
                  <a:srgbClr val="0F0F0F"/>
                </a:solidFill>
                <a:latin typeface="Calibri"/>
              </a:rPr>
              <a:t> and </a:t>
            </a:r>
            <a:r>
              <a:rPr sz="1600" dirty="0" err="1">
                <a:solidFill>
                  <a:srgbClr val="0F0F0F"/>
                </a:solidFill>
                <a:latin typeface="Calibri"/>
              </a:rPr>
              <a:t>LightGBM</a:t>
            </a:r>
            <a:r>
              <a:rPr sz="1600" dirty="0">
                <a:solidFill>
                  <a:srgbClr val="0F0F0F"/>
                </a:solidFill>
                <a:latin typeface="Calibri"/>
              </a:rPr>
              <a:t>.</a:t>
            </a:r>
          </a:p>
          <a:p>
            <a:pPr>
              <a:lnSpc>
                <a:spcPct val="105000"/>
              </a:lnSpc>
              <a:spcAft>
                <a:spcPts val="500"/>
              </a:spcAft>
            </a:pPr>
            <a:r>
              <a:rPr sz="1600" b="1" dirty="0">
                <a:solidFill>
                  <a:srgbClr val="0F0F0F"/>
                </a:solidFill>
                <a:latin typeface="Calibri"/>
              </a:rPr>
              <a:t>Prediction: </a:t>
            </a:r>
            <a:r>
              <a:rPr sz="1600" dirty="0">
                <a:solidFill>
                  <a:srgbClr val="0F0F0F"/>
                </a:solidFill>
                <a:latin typeface="Calibri"/>
              </a:rPr>
              <a:t>Use the best-performing tuned pipeline to classify </a:t>
            </a:r>
            <a:r>
              <a:rPr sz="1600" dirty="0" err="1">
                <a:solidFill>
                  <a:srgbClr val="0F0F0F"/>
                </a:solidFill>
                <a:latin typeface="Calibri"/>
              </a:rPr>
              <a:t>Placement_Status</a:t>
            </a:r>
            <a:r>
              <a:rPr sz="1600" dirty="0">
                <a:solidFill>
                  <a:srgbClr val="0F0F0F"/>
                </a:solidFill>
                <a:latin typeface="Calibri"/>
              </a:rPr>
              <a:t> as Placed or Not Placed.</a:t>
            </a:r>
          </a:p>
          <a:p>
            <a:pPr>
              <a:lnSpc>
                <a:spcPct val="105000"/>
              </a:lnSpc>
              <a:spcAft>
                <a:spcPts val="500"/>
              </a:spcAft>
            </a:pPr>
            <a:r>
              <a:rPr sz="1600" b="1" dirty="0">
                <a:solidFill>
                  <a:srgbClr val="0F0F0F"/>
                </a:solidFill>
                <a:latin typeface="Calibri"/>
              </a:rPr>
              <a:t>Application: </a:t>
            </a:r>
            <a:r>
              <a:rPr sz="1600" dirty="0">
                <a:solidFill>
                  <a:srgbClr val="0F0F0F"/>
                </a:solidFill>
                <a:latin typeface="Calibri"/>
              </a:rPr>
              <a:t>Provide an interactive </a:t>
            </a:r>
            <a:r>
              <a:rPr sz="1600" dirty="0" err="1">
                <a:solidFill>
                  <a:srgbClr val="0F0F0F"/>
                </a:solidFill>
                <a:latin typeface="Calibri"/>
              </a:rPr>
              <a:t>Streamlit</a:t>
            </a:r>
            <a:r>
              <a:rPr sz="1600" dirty="0">
                <a:solidFill>
                  <a:srgbClr val="0F0F0F"/>
                </a:solidFill>
                <a:latin typeface="Calibri"/>
              </a:rPr>
              <a:t> interface for entering a student's academic, technical and soft-skill profile.</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1" y="882650"/>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wrap="square" lIns="109728" tIns="73152" rIns="109728" bIns="73152"/>
          <a:lstStyle/>
          <a:p>
            <a:pPr marL="0" indent="0">
              <a:lnSpc>
                <a:spcPct val="105000"/>
              </a:lnSpc>
              <a:spcAft>
                <a:spcPts val="500"/>
              </a:spcAft>
              <a:buNone/>
            </a:pPr>
            <a:r>
              <a:rPr sz="1600" b="1">
                <a:solidFill>
                  <a:srgbClr val="0F0F0F"/>
                </a:solidFill>
                <a:latin typeface="Calibri"/>
              </a:rPr>
              <a:t>Programming Language: </a:t>
            </a:r>
            <a:r>
              <a:rPr sz="1600">
                <a:solidFill>
                  <a:srgbClr val="0F0F0F"/>
                </a:solidFill>
                <a:latin typeface="Calibri"/>
              </a:rPr>
              <a:t>Python</a:t>
            </a:r>
            <a:endParaRPr lang="en-US"/>
          </a:p>
          <a:p>
            <a:pPr>
              <a:lnSpc>
                <a:spcPct val="105000"/>
              </a:lnSpc>
              <a:spcAft>
                <a:spcPts val="500"/>
              </a:spcAft>
            </a:pPr>
            <a:r>
              <a:rPr sz="1600" b="1">
                <a:solidFill>
                  <a:srgbClr val="0F0F0F"/>
                </a:solidFill>
                <a:latin typeface="Calibri"/>
              </a:rPr>
              <a:t>Data Processing: </a:t>
            </a:r>
            <a:r>
              <a:rPr sz="1600">
                <a:solidFill>
                  <a:srgbClr val="0F0F0F"/>
                </a:solidFill>
                <a:latin typeface="Calibri"/>
              </a:rPr>
              <a:t>Pandas, NumPy</a:t>
            </a:r>
          </a:p>
          <a:p>
            <a:pPr>
              <a:lnSpc>
                <a:spcPct val="105000"/>
              </a:lnSpc>
              <a:spcAft>
                <a:spcPts val="500"/>
              </a:spcAft>
            </a:pPr>
            <a:r>
              <a:rPr sz="1600" b="1">
                <a:solidFill>
                  <a:srgbClr val="0F0F0F"/>
                </a:solidFill>
                <a:latin typeface="Calibri"/>
              </a:rPr>
              <a:t>Machine Learning: </a:t>
            </a:r>
            <a:r>
              <a:rPr sz="1600">
                <a:solidFill>
                  <a:srgbClr val="0F0F0F"/>
                </a:solidFill>
                <a:latin typeface="Calibri"/>
              </a:rPr>
              <a:t>Scikit-learn, XGBoost, LightGBM</a:t>
            </a:r>
          </a:p>
          <a:p>
            <a:pPr>
              <a:lnSpc>
                <a:spcPct val="105000"/>
              </a:lnSpc>
              <a:spcAft>
                <a:spcPts val="500"/>
              </a:spcAft>
            </a:pPr>
            <a:r>
              <a:rPr sz="1600" b="1">
                <a:solidFill>
                  <a:srgbClr val="0F0F0F"/>
                </a:solidFill>
                <a:latin typeface="Calibri"/>
              </a:rPr>
              <a:t>Preprocessing: </a:t>
            </a:r>
            <a:r>
              <a:rPr sz="1600">
                <a:solidFill>
                  <a:srgbClr val="0F0F0F"/>
                </a:solidFill>
                <a:latin typeface="Calibri"/>
              </a:rPr>
              <a:t>SimpleImputer, StandardScaler, OrdinalEncoder, One-Hot Encoding</a:t>
            </a:r>
          </a:p>
          <a:p>
            <a:pPr>
              <a:lnSpc>
                <a:spcPct val="105000"/>
              </a:lnSpc>
              <a:spcAft>
                <a:spcPts val="500"/>
              </a:spcAft>
            </a:pPr>
            <a:r>
              <a:rPr sz="1600" b="1">
                <a:solidFill>
                  <a:srgbClr val="0F0F0F"/>
                </a:solidFill>
                <a:latin typeface="Calibri"/>
              </a:rPr>
              <a:t>Model Selection: </a:t>
            </a:r>
            <a:r>
              <a:rPr sz="1600">
                <a:solidFill>
                  <a:srgbClr val="0F0F0F"/>
                </a:solidFill>
                <a:latin typeface="Calibri"/>
              </a:rPr>
              <a:t>5-fold Stratified Cross-Validation using weighted F1</a:t>
            </a:r>
          </a:p>
          <a:p>
            <a:pPr>
              <a:lnSpc>
                <a:spcPct val="105000"/>
              </a:lnSpc>
              <a:spcAft>
                <a:spcPts val="500"/>
              </a:spcAft>
            </a:pPr>
            <a:r>
              <a:rPr sz="1600" b="1">
                <a:solidFill>
                  <a:srgbClr val="0F0F0F"/>
                </a:solidFill>
                <a:latin typeface="Calibri"/>
              </a:rPr>
              <a:t>Optimization: </a:t>
            </a:r>
            <a:r>
              <a:rPr sz="1600">
                <a:solidFill>
                  <a:srgbClr val="0F0F0F"/>
                </a:solidFill>
                <a:latin typeface="Calibri"/>
              </a:rPr>
              <a:t>RandomizedSearchCV and decision-threshold tuning</a:t>
            </a:r>
          </a:p>
          <a:p>
            <a:pPr>
              <a:lnSpc>
                <a:spcPct val="105000"/>
              </a:lnSpc>
              <a:spcAft>
                <a:spcPts val="500"/>
              </a:spcAft>
            </a:pPr>
            <a:r>
              <a:rPr sz="1600" b="1">
                <a:solidFill>
                  <a:srgbClr val="0F0F0F"/>
                </a:solidFill>
                <a:latin typeface="Calibri"/>
              </a:rPr>
              <a:t>Web Framework: </a:t>
            </a:r>
            <a:r>
              <a:rPr sz="1600">
                <a:solidFill>
                  <a:srgbClr val="0F0F0F"/>
                </a:solidFill>
                <a:latin typeface="Calibri"/>
              </a:rPr>
              <a:t>Streamlit</a:t>
            </a:r>
          </a:p>
          <a:p>
            <a:pPr>
              <a:lnSpc>
                <a:spcPct val="105000"/>
              </a:lnSpc>
              <a:spcAft>
                <a:spcPts val="500"/>
              </a:spcAft>
            </a:pPr>
            <a:r>
              <a:rPr sz="1600" b="1">
                <a:solidFill>
                  <a:srgbClr val="0F0F0F"/>
                </a:solidFill>
                <a:latin typeface="Calibri"/>
              </a:rPr>
              <a:t>Model Persistence: </a:t>
            </a:r>
            <a:r>
              <a:rPr sz="1600">
                <a:solidFill>
                  <a:srgbClr val="0F0F0F"/>
                </a:solidFill>
                <a:latin typeface="Calibri"/>
              </a:rPr>
              <a:t>Joblib</a:t>
            </a:r>
          </a:p>
          <a:p>
            <a:pPr>
              <a:lnSpc>
                <a:spcPct val="105000"/>
              </a:lnSpc>
              <a:spcAft>
                <a:spcPts val="500"/>
              </a:spcAft>
            </a:pPr>
            <a:r>
              <a:rPr sz="1600" b="1">
                <a:solidFill>
                  <a:srgbClr val="0F0F0F"/>
                </a:solidFill>
                <a:latin typeface="Calibri"/>
              </a:rPr>
              <a:t>Version Control: </a:t>
            </a:r>
            <a:r>
              <a:rPr sz="1600">
                <a:solidFill>
                  <a:srgbClr val="0F0F0F"/>
                </a:solidFill>
                <a:latin typeface="Calibri"/>
              </a:rPr>
              <a:t>Git and GitHub</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wrap="square" lIns="18288" tIns="18288" rIns="18288" bIns="18288">
            <a:normAutofit fontScale="90000"/>
          </a:bodyPr>
          <a:lstStyle/>
          <a:p>
            <a:r>
              <a:rPr sz="4400" b="1">
                <a:solidFill>
                  <a:srgbClr val="1CAEE4"/>
                </a:solidFill>
                <a:latin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581193" y="1302026"/>
            <a:ext cx="5331928" cy="4771114"/>
          </a:xfrm>
        </p:spPr>
        <p:txBody>
          <a:bodyPr wrap="square" lIns="109728" tIns="73152" rIns="109728" bIns="73152"/>
          <a:lstStyle/>
          <a:p>
            <a:pPr marL="305435" indent="-305435">
              <a:lnSpc>
                <a:spcPct val="100000"/>
              </a:lnSpc>
              <a:spcAft>
                <a:spcPts val="400"/>
              </a:spcAft>
            </a:pPr>
            <a:r>
              <a:rPr sz="1500" b="1" dirty="0">
                <a:solidFill>
                  <a:srgbClr val="0F0F0F"/>
                </a:solidFill>
                <a:latin typeface="Calibri"/>
              </a:rPr>
              <a:t>Algorithm: </a:t>
            </a:r>
            <a:r>
              <a:rPr sz="1500" dirty="0">
                <a:solidFill>
                  <a:srgbClr val="0F0F0F"/>
                </a:solidFill>
                <a:latin typeface="Calibri"/>
              </a:rPr>
              <a:t>Random Forest Classifier was selected as the best model in the repository's model comparison.</a:t>
            </a:r>
            <a:endParaRPr lang="en-IN" sz="1400" dirty="0"/>
          </a:p>
          <a:p>
            <a:pPr>
              <a:lnSpc>
                <a:spcPct val="100000"/>
              </a:lnSpc>
              <a:spcAft>
                <a:spcPts val="400"/>
              </a:spcAft>
            </a:pPr>
            <a:r>
              <a:rPr sz="1500" b="1" dirty="0">
                <a:solidFill>
                  <a:srgbClr val="0F0F0F"/>
                </a:solidFill>
                <a:latin typeface="Calibri"/>
              </a:rPr>
              <a:t>Training: </a:t>
            </a:r>
            <a:r>
              <a:rPr sz="1500" dirty="0">
                <a:solidFill>
                  <a:srgbClr val="0F0F0F"/>
                </a:solidFill>
                <a:latin typeface="Calibri"/>
              </a:rPr>
              <a:t>80/20 stratified train-test split followed by 5-fold cross-validation.</a:t>
            </a:r>
          </a:p>
          <a:p>
            <a:pPr>
              <a:lnSpc>
                <a:spcPct val="100000"/>
              </a:lnSpc>
              <a:spcAft>
                <a:spcPts val="400"/>
              </a:spcAft>
            </a:pPr>
            <a:r>
              <a:rPr sz="1500" b="1" dirty="0">
                <a:solidFill>
                  <a:srgbClr val="0F0F0F"/>
                </a:solidFill>
                <a:latin typeface="Calibri"/>
              </a:rPr>
              <a:t>Tuning: </a:t>
            </a:r>
            <a:r>
              <a:rPr sz="1500" dirty="0" err="1">
                <a:solidFill>
                  <a:srgbClr val="0F0F0F"/>
                </a:solidFill>
                <a:latin typeface="Calibri"/>
              </a:rPr>
              <a:t>RandomizedSearchCV</a:t>
            </a:r>
            <a:r>
              <a:rPr sz="1500" dirty="0">
                <a:solidFill>
                  <a:srgbClr val="0F0F0F"/>
                </a:solidFill>
                <a:latin typeface="Calibri"/>
              </a:rPr>
              <a:t> is applied to the best candidate model; the decision threshold is tuned to </a:t>
            </a:r>
            <a:r>
              <a:rPr sz="1500" dirty="0" err="1">
                <a:solidFill>
                  <a:srgbClr val="0F0F0F"/>
                </a:solidFill>
                <a:latin typeface="Calibri"/>
              </a:rPr>
              <a:t>maximise</a:t>
            </a:r>
            <a:r>
              <a:rPr sz="1500" dirty="0">
                <a:solidFill>
                  <a:srgbClr val="0F0F0F"/>
                </a:solidFill>
                <a:latin typeface="Calibri"/>
              </a:rPr>
              <a:t> weighted F1.</a:t>
            </a:r>
          </a:p>
          <a:p>
            <a:pPr>
              <a:lnSpc>
                <a:spcPct val="100000"/>
              </a:lnSpc>
              <a:spcAft>
                <a:spcPts val="400"/>
              </a:spcAft>
            </a:pPr>
            <a:r>
              <a:rPr sz="1500" b="1" dirty="0">
                <a:solidFill>
                  <a:srgbClr val="0F0F0F"/>
                </a:solidFill>
                <a:latin typeface="Calibri"/>
              </a:rPr>
              <a:t>Deployment: </a:t>
            </a:r>
            <a:r>
              <a:rPr sz="1500" dirty="0">
                <a:solidFill>
                  <a:srgbClr val="0F0F0F"/>
                </a:solidFill>
                <a:latin typeface="Calibri"/>
              </a:rPr>
              <a:t>The trained pipeline is saved with </a:t>
            </a:r>
            <a:r>
              <a:rPr sz="1500" dirty="0" err="1">
                <a:solidFill>
                  <a:srgbClr val="0F0F0F"/>
                </a:solidFill>
                <a:latin typeface="Calibri"/>
              </a:rPr>
              <a:t>Joblib</a:t>
            </a:r>
            <a:r>
              <a:rPr sz="1500" dirty="0">
                <a:solidFill>
                  <a:srgbClr val="0F0F0F"/>
                </a:solidFill>
                <a:latin typeface="Calibri"/>
              </a:rPr>
              <a:t> and loaded by the </a:t>
            </a:r>
            <a:r>
              <a:rPr sz="1500" dirty="0" err="1">
                <a:solidFill>
                  <a:srgbClr val="0F0F0F"/>
                </a:solidFill>
                <a:latin typeface="Calibri"/>
              </a:rPr>
              <a:t>Streamlit</a:t>
            </a:r>
            <a:r>
              <a:rPr sz="1500" dirty="0">
                <a:solidFill>
                  <a:srgbClr val="0F0F0F"/>
                </a:solidFill>
                <a:latin typeface="Calibri"/>
              </a:rPr>
              <a:t> web application.</a:t>
            </a:r>
          </a:p>
        </p:txBody>
      </p:sp>
      <p:pic>
        <p:nvPicPr>
          <p:cNvPr id="6" name="Picture 5" descr="training_code.png"/>
          <p:cNvPicPr>
            <a:picLocks noChangeAspect="1"/>
          </p:cNvPicPr>
          <p:nvPr/>
        </p:nvPicPr>
        <p:blipFill>
          <a:blip r:embed="rId2"/>
          <a:stretch>
            <a:fillRect/>
          </a:stretch>
        </p:blipFill>
        <p:spPr>
          <a:xfrm>
            <a:off x="6416040" y="2095500"/>
            <a:ext cx="4899660" cy="3070860"/>
          </a:xfrm>
          <a:prstGeom prst="rect">
            <a:avLst/>
          </a:prstGeom>
        </p:spPr>
      </p:pic>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wrap="square" lIns="18288" tIns="18288" rIns="18288" bIns="18288">
            <a:normAutofit fontScale="90000"/>
          </a:bodyPr>
          <a:lstStyle/>
          <a:p>
            <a:r>
              <a:rPr sz="4400" b="1">
                <a:solidFill>
                  <a:srgbClr val="1CAEE4"/>
                </a:solidFill>
                <a:latin typeface="Arial"/>
              </a:rPr>
              <a:t>Result</a:t>
            </a:r>
            <a:endParaRPr lang="en-US"/>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wrap="square" lIns="109728" tIns="73152" rIns="109728">
            <a:normAutofit/>
          </a:bodyPr>
          <a:lstStyle/>
          <a:p>
            <a:pPr marL="0" indent="0">
              <a:spcAft>
                <a:spcPts val="800"/>
              </a:spcAft>
              <a:buNone/>
            </a:pPr>
            <a:r>
              <a:rPr sz="2000" b="1">
                <a:solidFill>
                  <a:srgbClr val="0F0F0F"/>
                </a:solidFill>
                <a:latin typeface="Calibri"/>
              </a:rPr>
              <a:t>Dataset: </a:t>
            </a:r>
            <a:r>
              <a:rPr sz="2000">
                <a:solidFill>
                  <a:srgbClr val="0F0F0F"/>
                </a:solidFill>
                <a:latin typeface="Calibri"/>
              </a:rPr>
              <a:t>50,000 records | 29 features</a:t>
            </a:r>
            <a:endParaRPr lang="en-IN" sz="2400"/>
          </a:p>
          <a:p>
            <a:pPr>
              <a:spcAft>
                <a:spcPts val="800"/>
              </a:spcAft>
            </a:pPr>
            <a:r>
              <a:rPr sz="2000" b="1">
                <a:solidFill>
                  <a:srgbClr val="0F0F0F"/>
                </a:solidFill>
                <a:latin typeface="Calibri"/>
              </a:rPr>
              <a:t>Best Model: </a:t>
            </a:r>
            <a:r>
              <a:rPr sz="2000">
                <a:solidFill>
                  <a:srgbClr val="0F0F0F"/>
                </a:solidFill>
                <a:latin typeface="Calibri"/>
              </a:rPr>
              <a:t>Random Forest Classifier</a:t>
            </a:r>
          </a:p>
          <a:p>
            <a:pPr>
              <a:spcAft>
                <a:spcPts val="800"/>
              </a:spcAft>
            </a:pPr>
            <a:r>
              <a:rPr sz="2000" b="1">
                <a:solidFill>
                  <a:srgbClr val="0F0F0F"/>
                </a:solidFill>
                <a:latin typeface="Calibri"/>
              </a:rPr>
              <a:t>Cross-Validation F1: </a:t>
            </a:r>
            <a:r>
              <a:rPr sz="2000">
                <a:solidFill>
                  <a:srgbClr val="0F0F0F"/>
                </a:solidFill>
                <a:latin typeface="Calibri"/>
              </a:rPr>
              <a:t>≈ 79.95%</a:t>
            </a:r>
          </a:p>
          <a:p>
            <a:pPr>
              <a:spcAft>
                <a:spcPts val="800"/>
              </a:spcAft>
            </a:pPr>
            <a:r>
              <a:rPr sz="2000" b="1">
                <a:solidFill>
                  <a:srgbClr val="0F0F0F"/>
                </a:solidFill>
                <a:latin typeface="Calibri"/>
              </a:rPr>
              <a:t>Test Accuracy: </a:t>
            </a:r>
            <a:r>
              <a:rPr sz="2000">
                <a:solidFill>
                  <a:srgbClr val="0F0F0F"/>
                </a:solidFill>
                <a:latin typeface="Calibri"/>
              </a:rPr>
              <a:t>79.4%</a:t>
            </a:r>
          </a:p>
          <a:p>
            <a:pPr>
              <a:spcAft>
                <a:spcPts val="800"/>
              </a:spcAft>
            </a:pPr>
            <a:r>
              <a:rPr sz="2000" b="1">
                <a:solidFill>
                  <a:srgbClr val="0F0F0F"/>
                </a:solidFill>
                <a:latin typeface="Calibri"/>
              </a:rPr>
              <a:t>Test ROC-AUC: </a:t>
            </a:r>
            <a:r>
              <a:rPr sz="2000">
                <a:solidFill>
                  <a:srgbClr val="0F0F0F"/>
                </a:solidFill>
                <a:latin typeface="Calibri"/>
              </a:rPr>
              <a:t>0.7964</a:t>
            </a:r>
          </a:p>
          <a:p>
            <a:pPr>
              <a:spcBef>
                <a:spcPts val="1000"/>
              </a:spcBef>
              <a:spcAft>
                <a:spcPts val="800"/>
              </a:spcAft>
            </a:pPr>
            <a:r>
              <a:rPr sz="1700">
                <a:solidFill>
                  <a:srgbClr val="0F0F0F"/>
                </a:solidFill>
                <a:latin typeface="Calibri"/>
              </a:rPr>
              <a:t>The Streamlit interface accepts academic, technical, soft-skill and profile inputs and returns a placement prediction.</a:t>
            </a:r>
          </a:p>
        </p:txBody>
      </p:sp>
      <p:pic>
        <p:nvPicPr>
          <p:cNvPr id="6" name="Picture 5" descr="streamlit_code.png"/>
          <p:cNvPicPr>
            <a:picLocks noChangeAspect="1"/>
          </p:cNvPicPr>
          <p:nvPr/>
        </p:nvPicPr>
        <p:blipFill>
          <a:blip r:embed="rId2"/>
          <a:stretch>
            <a:fillRect/>
          </a:stretch>
        </p:blipFill>
        <p:spPr>
          <a:xfrm>
            <a:off x="5843016" y="2249761"/>
            <a:ext cx="4892040" cy="2358478"/>
          </a:xfrm>
          <a:prstGeom prst="rect">
            <a:avLst/>
          </a:prstGeom>
        </p:spPr>
      </p:pic>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wrap="square" lIns="18288" tIns="18288" rIns="18288" bIns="18288">
            <a:normAutofit fontScale="90000"/>
          </a:bodyPr>
          <a:lstStyle/>
          <a:p>
            <a:r>
              <a:rPr sz="4400" b="1">
                <a:solidFill>
                  <a:srgbClr val="1CAEE4"/>
                </a:solidFill>
                <a:latin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wrap="square" lIns="109728" tIns="73152" rIns="109728" bIns="73152">
            <a:normAutofit/>
          </a:bodyPr>
          <a:lstStyle/>
          <a:p>
            <a:pPr marL="305435" indent="-305435">
              <a:lnSpc>
                <a:spcPct val="105000"/>
              </a:lnSpc>
              <a:spcAft>
                <a:spcPts val="500"/>
              </a:spcAft>
            </a:pPr>
            <a:r>
              <a:rPr sz="1800">
                <a:solidFill>
                  <a:srgbClr val="0F0F0F"/>
                </a:solidFill>
                <a:latin typeface="Calibri"/>
              </a:rPr>
              <a:t>The project demonstrates an end-to-end machine learning workflow for student placement prediction.</a:t>
            </a:r>
            <a:endParaRPr lang="en-IN" sz="2000">
              <a:solidFill>
                <a:srgbClr val="404040"/>
              </a:solidFill>
              <a:ea typeface="+mn-lt"/>
              <a:cs typeface="+mn-lt"/>
            </a:endParaRPr>
          </a:p>
          <a:p>
            <a:pPr>
              <a:lnSpc>
                <a:spcPct val="105000"/>
              </a:lnSpc>
              <a:spcAft>
                <a:spcPts val="500"/>
              </a:spcAft>
            </a:pPr>
            <a:r>
              <a:rPr sz="1800">
                <a:solidFill>
                  <a:srgbClr val="0F0F0F"/>
                </a:solidFill>
                <a:latin typeface="Calibri"/>
              </a:rPr>
              <a:t>A structured preprocessing pipeline and feature engineering step improve the consistency of model inputs.</a:t>
            </a:r>
          </a:p>
          <a:p>
            <a:pPr>
              <a:lnSpc>
                <a:spcPct val="105000"/>
              </a:lnSpc>
              <a:spcAft>
                <a:spcPts val="500"/>
              </a:spcAft>
            </a:pPr>
            <a:r>
              <a:rPr sz="1800">
                <a:solidFill>
                  <a:srgbClr val="0F0F0F"/>
                </a:solidFill>
                <a:latin typeface="Calibri"/>
              </a:rPr>
              <a:t>Random Forest achieved the strongest cross-validation performance among the compared models in the repository.</a:t>
            </a:r>
          </a:p>
          <a:p>
            <a:pPr>
              <a:lnSpc>
                <a:spcPct val="105000"/>
              </a:lnSpc>
              <a:spcAft>
                <a:spcPts val="500"/>
              </a:spcAft>
            </a:pPr>
            <a:r>
              <a:rPr sz="1800">
                <a:solidFill>
                  <a:srgbClr val="0F0F0F"/>
                </a:solidFill>
                <a:latin typeface="Calibri"/>
              </a:rPr>
              <a:t>The final solution is exposed through an interactive Streamlit application, making the model accessible without requiring users to write code.</a:t>
            </a:r>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a:xfrm>
            <a:off x="581192" y="1092338"/>
            <a:ext cx="11029615" cy="4673324"/>
          </a:xfrm>
        </p:spPr>
        <p:txBody>
          <a:bodyPr wrap="square" lIns="109728" tIns="73152" rIns="109728" bIns="73152"/>
          <a:lstStyle/>
          <a:p>
            <a:pPr marL="0" indent="0">
              <a:lnSpc>
                <a:spcPct val="105000"/>
              </a:lnSpc>
              <a:spcAft>
                <a:spcPts val="500"/>
              </a:spcAft>
              <a:buNone/>
            </a:pPr>
            <a:r>
              <a:rPr sz="1700" dirty="0">
                <a:solidFill>
                  <a:srgbClr val="0F0F0F"/>
                </a:solidFill>
                <a:latin typeface="Calibri"/>
              </a:rPr>
              <a:t>Add explainable-AI outputs such as SHAP-based feature contribution for individual predictions.</a:t>
            </a:r>
            <a:endParaRPr lang="en-US" sz="2000" b="1" dirty="0"/>
          </a:p>
          <a:p>
            <a:pPr>
              <a:lnSpc>
                <a:spcPct val="105000"/>
              </a:lnSpc>
              <a:spcAft>
                <a:spcPts val="500"/>
              </a:spcAft>
            </a:pPr>
            <a:r>
              <a:rPr sz="1700" dirty="0">
                <a:solidFill>
                  <a:srgbClr val="0F0F0F"/>
                </a:solidFill>
                <a:latin typeface="Calibri"/>
              </a:rPr>
              <a:t>Introduce calibration and fairness analysis across student groups.</a:t>
            </a:r>
          </a:p>
          <a:p>
            <a:pPr>
              <a:lnSpc>
                <a:spcPct val="105000"/>
              </a:lnSpc>
              <a:spcAft>
                <a:spcPts val="500"/>
              </a:spcAft>
            </a:pPr>
            <a:r>
              <a:rPr sz="1700" dirty="0">
                <a:solidFill>
                  <a:srgbClr val="0F0F0F"/>
                </a:solidFill>
                <a:latin typeface="Calibri"/>
              </a:rPr>
              <a:t>Track model drift and periodically retrain the model using newer placement outcomes.</a:t>
            </a:r>
          </a:p>
          <a:p>
            <a:pPr>
              <a:lnSpc>
                <a:spcPct val="105000"/>
              </a:lnSpc>
              <a:spcAft>
                <a:spcPts val="500"/>
              </a:spcAft>
            </a:pPr>
            <a:r>
              <a:rPr sz="1700" dirty="0">
                <a:solidFill>
                  <a:srgbClr val="0F0F0F"/>
                </a:solidFill>
                <a:latin typeface="Calibri"/>
              </a:rPr>
              <a:t>Add personalized skill-gap recommendations based on the student's predicted readiness.</a:t>
            </a:r>
          </a:p>
          <a:p>
            <a:pPr>
              <a:lnSpc>
                <a:spcPct val="105000"/>
              </a:lnSpc>
              <a:spcAft>
                <a:spcPts val="500"/>
              </a:spcAft>
            </a:pPr>
            <a:r>
              <a:rPr sz="1700" dirty="0">
                <a:solidFill>
                  <a:srgbClr val="0F0F0F"/>
                </a:solidFill>
                <a:latin typeface="Calibri"/>
              </a:rPr>
              <a:t>Expose the model through an API for integration with college placement or student-support portals.</a:t>
            </a:r>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81192" y="1302026"/>
            <a:ext cx="11029616" cy="530296"/>
          </a:xfrm>
          <a:prstGeom prst="rect">
            <a:avLst/>
          </a:prstGeom>
        </p:spPr>
        <p:txBody>
          <a:bodyPr vert="horz" wrap="square" lIns="18288" tIns="18288" rIns="18288" bIns="18288" rtlCol="0" anchor="b">
            <a:normAutofit fontScale="825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sz="4400" b="1" dirty="0">
                <a:solidFill>
                  <a:srgbClr val="1CAEE4"/>
                </a:solidFill>
                <a:latin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wrap="square" lIns="18288" tIns="18288" rIns="18288" bIns="18288">
            <a:normAutofit fontScale="90000"/>
          </a:bodyPr>
          <a:lstStyle/>
          <a:p>
            <a:r>
              <a:rPr sz="4400" b="1">
                <a:solidFill>
                  <a:srgbClr val="1CAEE4"/>
                </a:solidFill>
                <a:latin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a:xfrm>
            <a:off x="581193" y="1302026"/>
            <a:ext cx="10102048" cy="4649194"/>
          </a:xfrm>
        </p:spPr>
        <p:txBody>
          <a:bodyPr wrap="square" lIns="109728" tIns="73152" rIns="109728" bIns="73152">
            <a:normAutofit/>
          </a:bodyPr>
          <a:lstStyle/>
          <a:p>
            <a:pPr marL="305435" indent="-305435">
              <a:lnSpc>
                <a:spcPct val="105000"/>
              </a:lnSpc>
              <a:spcAft>
                <a:spcPts val="500"/>
              </a:spcAft>
            </a:pPr>
            <a:r>
              <a:rPr sz="1800" dirty="0">
                <a:solidFill>
                  <a:srgbClr val="0F0F0F"/>
                </a:solidFill>
                <a:latin typeface="Calibri"/>
              </a:rPr>
              <a:t>GitHub repository: p4xprime/student-career-success-predictor</a:t>
            </a:r>
          </a:p>
          <a:p>
            <a:pPr>
              <a:lnSpc>
                <a:spcPct val="105000"/>
              </a:lnSpc>
              <a:spcAft>
                <a:spcPts val="500"/>
              </a:spcAft>
            </a:pPr>
            <a:r>
              <a:rPr sz="1800" dirty="0">
                <a:solidFill>
                  <a:srgbClr val="0F0F0F"/>
                </a:solidFill>
                <a:latin typeface="Calibri"/>
              </a:rPr>
              <a:t>Kaggle – Student Career Success Prediction Dataset</a:t>
            </a:r>
          </a:p>
          <a:p>
            <a:pPr>
              <a:lnSpc>
                <a:spcPct val="105000"/>
              </a:lnSpc>
              <a:spcAft>
                <a:spcPts val="500"/>
              </a:spcAft>
            </a:pPr>
            <a:r>
              <a:rPr sz="1800" dirty="0">
                <a:solidFill>
                  <a:srgbClr val="0F0F0F"/>
                </a:solidFill>
                <a:latin typeface="Calibri"/>
              </a:rPr>
              <a:t>Python documentation</a:t>
            </a:r>
          </a:p>
          <a:p>
            <a:pPr>
              <a:lnSpc>
                <a:spcPct val="105000"/>
              </a:lnSpc>
              <a:spcAft>
                <a:spcPts val="500"/>
              </a:spcAft>
            </a:pPr>
            <a:r>
              <a:rPr sz="1800" dirty="0">
                <a:solidFill>
                  <a:srgbClr val="0F0F0F"/>
                </a:solidFill>
                <a:latin typeface="Calibri"/>
              </a:rPr>
              <a:t>Pandas documentation</a:t>
            </a:r>
          </a:p>
          <a:p>
            <a:pPr>
              <a:lnSpc>
                <a:spcPct val="105000"/>
              </a:lnSpc>
              <a:spcAft>
                <a:spcPts val="500"/>
              </a:spcAft>
            </a:pPr>
            <a:r>
              <a:rPr sz="1800" dirty="0">
                <a:solidFill>
                  <a:srgbClr val="0F0F0F"/>
                </a:solidFill>
                <a:latin typeface="Calibri"/>
              </a:rPr>
              <a:t>NumPy documentation</a:t>
            </a:r>
          </a:p>
          <a:p>
            <a:pPr>
              <a:lnSpc>
                <a:spcPct val="105000"/>
              </a:lnSpc>
              <a:spcAft>
                <a:spcPts val="500"/>
              </a:spcAft>
            </a:pPr>
            <a:r>
              <a:rPr sz="1800" dirty="0">
                <a:solidFill>
                  <a:srgbClr val="0F0F0F"/>
                </a:solidFill>
                <a:latin typeface="Calibri"/>
              </a:rPr>
              <a:t>Scikit-learn documentation</a:t>
            </a:r>
          </a:p>
          <a:p>
            <a:pPr>
              <a:lnSpc>
                <a:spcPct val="105000"/>
              </a:lnSpc>
              <a:spcAft>
                <a:spcPts val="500"/>
              </a:spcAft>
            </a:pPr>
            <a:r>
              <a:rPr sz="1800" dirty="0" err="1">
                <a:solidFill>
                  <a:srgbClr val="0F0F0F"/>
                </a:solidFill>
                <a:latin typeface="Calibri"/>
              </a:rPr>
              <a:t>Streamlit</a:t>
            </a:r>
            <a:r>
              <a:rPr sz="1800" dirty="0">
                <a:solidFill>
                  <a:srgbClr val="0F0F0F"/>
                </a:solidFill>
                <a:latin typeface="Calibri"/>
              </a:rPr>
              <a:t> documentation</a:t>
            </a:r>
          </a:p>
          <a:p>
            <a:pPr>
              <a:lnSpc>
                <a:spcPct val="105000"/>
              </a:lnSpc>
              <a:spcAft>
                <a:spcPts val="500"/>
              </a:spcAft>
            </a:pPr>
            <a:r>
              <a:rPr sz="1800" dirty="0" err="1">
                <a:solidFill>
                  <a:srgbClr val="0F0F0F"/>
                </a:solidFill>
                <a:latin typeface="Calibri"/>
              </a:rPr>
              <a:t>XGBoost</a:t>
            </a:r>
            <a:r>
              <a:rPr sz="1800" dirty="0">
                <a:solidFill>
                  <a:srgbClr val="0F0F0F"/>
                </a:solidFill>
                <a:latin typeface="Calibri"/>
              </a:rPr>
              <a:t> documentation</a:t>
            </a:r>
          </a:p>
          <a:p>
            <a:pPr>
              <a:lnSpc>
                <a:spcPct val="105000"/>
              </a:lnSpc>
              <a:spcAft>
                <a:spcPts val="500"/>
              </a:spcAft>
            </a:pPr>
            <a:r>
              <a:rPr sz="1800" dirty="0" err="1">
                <a:solidFill>
                  <a:srgbClr val="0F0F0F"/>
                </a:solidFill>
                <a:latin typeface="Calibri"/>
              </a:rPr>
              <a:t>LightGBM</a:t>
            </a:r>
            <a:r>
              <a:rPr sz="1800" dirty="0">
                <a:solidFill>
                  <a:srgbClr val="0F0F0F"/>
                </a:solidFill>
                <a:latin typeface="Calibri"/>
              </a:rPr>
              <a:t> documentation</a:t>
            </a:r>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D7422-ED9D-D856-C6AD-0F1A715C2428}"/>
              </a:ext>
            </a:extLst>
          </p:cNvPr>
          <p:cNvSpPr>
            <a:spLocks noGrp="1"/>
          </p:cNvSpPr>
          <p:nvPr>
            <p:ph type="title"/>
          </p:nvPr>
        </p:nvSpPr>
        <p:spPr/>
        <p:txBody>
          <a:bodyPr wrap="square" lIns="18288" tIns="18288" rIns="18288" bIns="18288">
            <a:normAutofit fontScale="90000"/>
          </a:bodyPr>
          <a:lstStyle/>
          <a:p>
            <a:r>
              <a:rPr sz="4400" b="1" dirty="0">
                <a:solidFill>
                  <a:srgbClr val="1CAEE4"/>
                </a:solidFill>
                <a:latin typeface="Arial"/>
              </a:rPr>
              <a:t>Deployment link / </a:t>
            </a:r>
            <a:r>
              <a:rPr sz="4400" b="1" dirty="0" err="1">
                <a:solidFill>
                  <a:srgbClr val="1CAEE4"/>
                </a:solidFill>
                <a:latin typeface="Arial"/>
              </a:rPr>
              <a:t>github</a:t>
            </a:r>
            <a:r>
              <a:rPr sz="4400" b="1" dirty="0">
                <a:solidFill>
                  <a:srgbClr val="1CAEE4"/>
                </a:solidFill>
                <a:latin typeface="Arial"/>
              </a:rPr>
              <a:t> link</a:t>
            </a:r>
          </a:p>
        </p:txBody>
      </p:sp>
      <p:sp>
        <p:nvSpPr>
          <p:cNvPr id="3" name="Content Placeholder 2">
            <a:extLst>
              <a:ext uri="{FF2B5EF4-FFF2-40B4-BE49-F238E27FC236}">
                <a16:creationId xmlns:a16="http://schemas.microsoft.com/office/drawing/2014/main" id="{618C47C2-EF01-12B0-99EA-861F9629D1D9}"/>
              </a:ext>
            </a:extLst>
          </p:cNvPr>
          <p:cNvSpPr>
            <a:spLocks noGrp="1"/>
          </p:cNvSpPr>
          <p:nvPr>
            <p:ph idx="1"/>
          </p:nvPr>
        </p:nvSpPr>
        <p:spPr/>
        <p:txBody>
          <a:bodyPr wrap="square" lIns="109728" tIns="91440"/>
          <a:lstStyle/>
          <a:p>
            <a:r>
              <a:rPr sz="2000" b="1" dirty="0" err="1">
                <a:solidFill>
                  <a:srgbClr val="0F0F0F"/>
                </a:solidFill>
                <a:latin typeface="Calibri"/>
              </a:rPr>
              <a:t>Github</a:t>
            </a:r>
            <a:r>
              <a:rPr sz="2000" b="1" dirty="0">
                <a:solidFill>
                  <a:srgbClr val="0F0F0F"/>
                </a:solidFill>
                <a:latin typeface="Calibri"/>
              </a:rPr>
              <a:t> Link: </a:t>
            </a:r>
            <a:r>
              <a:rPr sz="1800" dirty="0">
                <a:solidFill>
                  <a:srgbClr val="1C60BE"/>
                </a:solidFill>
                <a:latin typeface="Calibri"/>
                <a:hlinkClick r:id="rId2"/>
              </a:rPr>
              <a:t>https://github.com/p4xprime/student-career-success-predictor</a:t>
            </a:r>
            <a:endParaRPr lang="en-US" sz="1800" dirty="0">
              <a:solidFill>
                <a:srgbClr val="1C60BE"/>
              </a:solidFill>
              <a:latin typeface="Calibri"/>
            </a:endParaRPr>
          </a:p>
          <a:p>
            <a:r>
              <a:rPr lang="en-US" sz="1800" b="1" dirty="0">
                <a:solidFill>
                  <a:schemeClr val="tx1"/>
                </a:solidFill>
                <a:latin typeface="Calibri"/>
              </a:rPr>
              <a:t>Deployment Link </a:t>
            </a:r>
            <a:r>
              <a:rPr lang="en-US" sz="1800" dirty="0">
                <a:solidFill>
                  <a:srgbClr val="1C60BE"/>
                </a:solidFill>
                <a:latin typeface="Calibri"/>
              </a:rPr>
              <a:t>: https://primestudent-career-success-predictor.streamlit.app</a:t>
            </a:r>
            <a:endParaRPr sz="2000" dirty="0">
              <a:solidFill>
                <a:srgbClr val="0F0F0F"/>
              </a:solidFill>
              <a:latin typeface="Calibri"/>
            </a:endParaRPr>
          </a:p>
          <a:p>
            <a:pPr>
              <a:spcBef>
                <a:spcPts val="1400"/>
              </a:spcBef>
            </a:pPr>
            <a:r>
              <a:rPr sz="1700" dirty="0">
                <a:solidFill>
                  <a:srgbClr val="0F0F0F"/>
                </a:solidFill>
                <a:latin typeface="Calibri"/>
              </a:rPr>
              <a:t>Repository contains: app.py, train_model.py, dataset, trained model and metadata.</a:t>
            </a:r>
          </a:p>
        </p:txBody>
      </p:sp>
    </p:spTree>
    <p:extLst>
      <p:ext uri="{BB962C8B-B14F-4D97-AF65-F5344CB8AC3E}">
        <p14:creationId xmlns:p14="http://schemas.microsoft.com/office/powerpoint/2010/main" val="258852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wrap="square" lIns="18288" tIns="18288" rIns="18288" bIns="18288"/>
          <a:lstStyle/>
          <a:p>
            <a:pPr algn="ctr"/>
            <a:r>
              <a:rPr sz="4400" b="1">
                <a:solidFill>
                  <a:srgbClr val="1CAEE4"/>
                </a:solidFill>
                <a:latin typeface="Arial"/>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53</TotalTime>
  <Words>638</Words>
  <Application>Microsoft Office PowerPoint</Application>
  <PresentationFormat>Widescreen</PresentationFormat>
  <Paragraphs>69</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Franklin Gothic Book</vt:lpstr>
      <vt:lpstr>Franklin Gothic Demi</vt:lpstr>
      <vt:lpstr>Wingdings 2</vt:lpstr>
      <vt:lpstr>DividendVTI</vt:lpstr>
      <vt:lpstr>STUDENT CAREER SUCCESS PREDICTOR</vt:lpstr>
      <vt:lpstr>OUTLINE</vt:lpstr>
      <vt:lpstr>Problem Statement</vt:lpstr>
      <vt:lpstr>Proposed Solution</vt:lpstr>
      <vt:lpstr>System  Approach</vt:lpstr>
      <vt:lpstr>Algorithm &amp; Deployment</vt:lpstr>
      <vt:lpstr>Result</vt:lpstr>
      <vt:lpstr>Conclusion</vt:lpstr>
      <vt:lpstr>PowerPoint Presentation</vt:lpstr>
      <vt:lpstr>References</vt:lpstr>
      <vt:lpstr>Deployment link / 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Prashant Mishra</cp:lastModifiedBy>
  <cp:revision>7</cp:revision>
  <dcterms:created xsi:type="dcterms:W3CDTF">2021-05-26T16:50:10Z</dcterms:created>
  <dcterms:modified xsi:type="dcterms:W3CDTF">2026-09-10T11:35:33Z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